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4884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Frederick City Council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8803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Legislative Process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reference — Council Leadership &amp; Staff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Legislation Starts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966960" y="384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OF 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9F0FE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251460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Committees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route — 3–4 members, by policy scope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0515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9F0FE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051560"/>
            <a:ext cx="251460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Staff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develop proposals independently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0515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9F0FE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1051560"/>
            <a:ext cx="251460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Members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Alone, with staff, or outside groups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98280" y="10515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9F0FE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098280" y="1051560"/>
            <a:ext cx="251460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Commission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&amp; land use only — bypasses committee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51660" y="2423160"/>
            <a:ext cx="0" cy="32004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686300" y="2423160"/>
            <a:ext cx="0" cy="32004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520940" y="2423160"/>
            <a:ext cx="0" cy="32004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0355580" y="2423160"/>
            <a:ext cx="0" cy="32004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851660" y="2743200"/>
            <a:ext cx="850392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103620" y="2743200"/>
            <a:ext cx="0" cy="32004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49140" y="3063240"/>
            <a:ext cx="3108960" cy="960120"/>
          </a:xfrm>
          <a:prstGeom prst="diamond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49140" y="306324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Leadership</a:t>
            </a:r>
            <a:endParaRPr lang="en-US" sz="12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where it goes next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57700" y="4434840"/>
            <a:ext cx="3108960" cy="1051560"/>
          </a:xfrm>
          <a:prstGeom prst="roundRect">
            <a:avLst>
              <a:gd name="adj" fmla="val 8696"/>
            </a:avLst>
          </a:prstGeom>
          <a:solidFill>
            <a:srgbClr val="E9F0FE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57700" y="4434840"/>
            <a:ext cx="3108960" cy="1051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Workshop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whole council acts as committee. No votes taken.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46420" y="4023360"/>
            <a:ext cx="365760" cy="4114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52260" y="4023360"/>
            <a:ext cx="1645920" cy="937260"/>
          </a:xfrm>
          <a:prstGeom prst="line">
            <a:avLst/>
          </a:prstGeom>
          <a:noFill/>
          <a:ln w="15875">
            <a:solidFill>
              <a:srgbClr val="1E2761"/>
            </a:solidFill>
            <a:prstDash val="dash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012180" y="5486400"/>
            <a:ext cx="0" cy="2743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98180" y="4960620"/>
            <a:ext cx="0" cy="800100"/>
          </a:xfrm>
          <a:prstGeom prst="line">
            <a:avLst/>
          </a:prstGeom>
          <a:noFill/>
          <a:ln w="15875">
            <a:solidFill>
              <a:srgbClr val="1E2761"/>
            </a:solidFill>
            <a:prstDash val="dash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6030468" y="5760720"/>
            <a:ext cx="2267712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4366260" y="5870448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B8862E"/>
          </a:solidFill>
          <a:ln w="6350">
            <a:solidFill>
              <a:srgbClr val="B886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66260" y="587044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to Hearing Sequence  →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823960" y="31089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Planning Commission items, this routing call is made jointly with the Planning Department.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823960" y="457200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can skip the workshop entirely and send an item straight to a hearing.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823960" y="548640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970264" y="5605272"/>
            <a:ext cx="2496312" cy="1316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Review — Advisory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Attorney can review legislation at any point above. Never a formal gate.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held before First Read — César's own discipline, not a rule.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Hearing Sequence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966960" y="38404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OF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41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are only taken at hearings.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93776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the 1st &amp; 3rd Thursday of the month — unless a special session is called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 w="15875">
            <a:solidFill>
              <a:srgbClr val="6B7280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286000"/>
            <a:ext cx="173736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51760" y="35204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9F0FE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3520440"/>
            <a:ext cx="256032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(Introduction)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Mandatory. No vote. Text is now locked — further changes must come as amendments.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06440" y="35204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9F0FE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3520440"/>
            <a:ext cx="256032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Read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later hearing. Vote taken: pass, amend, or reject.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583680" y="313639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13639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961120" y="352044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9F0FE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0" y="3520440"/>
            <a:ext cx="256032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Read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held over from Second Read. Vote is now required — no further deferral.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38360" y="313639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B8862E"/>
          </a:solidFill>
          <a:ln/>
        </p:spPr>
      </p:sp>
      <p:sp>
        <p:nvSpPr>
          <p:cNvPr id="18" name="Text 16"/>
          <p:cNvSpPr/>
          <p:nvPr/>
        </p:nvSpPr>
        <p:spPr>
          <a:xfrm>
            <a:off x="9738360" y="313639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4297680"/>
            <a:ext cx="59436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66760" y="4023360"/>
            <a:ext cx="5943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8394192" y="3611880"/>
            <a:ext cx="539496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held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2240280" y="3154680"/>
            <a:ext cx="548640" cy="365760"/>
          </a:xfrm>
          <a:prstGeom prst="line">
            <a:avLst/>
          </a:prstGeom>
          <a:noFill/>
          <a:ln w="15875">
            <a:solidFill>
              <a:srgbClr val="1E2761"/>
            </a:solidFill>
            <a:prstDash val="dash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468880" y="3017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Occasionally, if Leadership feels it needs more work.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Ordinances, resolutions, and Planning-Commission-originated zoning items all follow this same sequence — there is no separate, lighter track.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" y="56235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PART OF THIS PROCESS</a:t>
            </a:r>
            <a:endParaRPr lang="en-US" sz="950" dirty="0"/>
          </a:p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Agenda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77640" y="5623560"/>
            <a:ext cx="74340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legislation. Routine budget items, recurring costs, and grant acceptances — bundled into a single vote at a hearing, entirely outside this pipeline.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2026-08-24T13:19:02Z</dcterms:created>
  <dcterms:modified xsi:type="dcterms:W3CDTF">2026-08-24T13:19:02Z</dcterms:modified>
</cp:coreProperties>
</file>